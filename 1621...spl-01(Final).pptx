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0FE1EE-8310-4D21-ADA5-032F3EBDA123}" v="4" dt="2026-04-22T17:20:45.877"/>
    <p1510:client id="{69562B9A-F48A-4C57-B659-D81B8AC2D2B4}" v="171" dt="2026-04-22T17:19:56.111"/>
    <p1510:client id="{E2CD7EE2-2210-40E1-9C3C-617483CCAC86}" v="30" dt="2026-04-22T17:26:21.6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35-4CFE-95C7-12CF0651E90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535-4CFE-95C7-12CF0651E90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535-4CFE-95C7-12CF0651E90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535-4CFE-95C7-12CF0651E90D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535-4CFE-95C7-12CF0651E90D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535-4CFE-95C7-12CF0651E90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535-4CFE-95C7-12CF0651E90D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535-4CFE-95C7-12CF0651E90D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535-4CFE-95C7-12CF0651E9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1C1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LOC</c:v>
                </c:pt>
                <c:pt idx="1">
                  <c:v>Logic</c:v>
                </c:pt>
                <c:pt idx="2">
                  <c:v>Arith.</c:v>
                </c:pt>
                <c:pt idx="3">
                  <c:v>Bit</c:v>
                </c:pt>
                <c:pt idx="4">
                  <c:v>Comparison</c:v>
                </c:pt>
                <c:pt idx="5">
                  <c:v>Memory</c:v>
                </c:pt>
                <c:pt idx="6">
                  <c:v>Func.Call</c:v>
                </c:pt>
                <c:pt idx="7">
                  <c:v>I/O</c:v>
                </c:pt>
                <c:pt idx="8">
                  <c:v>Allocation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80</c:v>
                </c:pt>
                <c:pt idx="7">
                  <c:v>100</c:v>
                </c:pt>
                <c:pt idx="8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535-4CFE-95C7-12CF0651E9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D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6DF2F-4676-4428-9417-59985C000F3E}" type="datetimeFigureOut"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A5C7B-7450-449F-935E-E68C01EFEC3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4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2105: Software Project Lab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Code Energy Analyzer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93392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Operation-Level Energy Profiling Before Compilation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78608"/>
            <a:ext cx="2011680" cy="228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2788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 Ahmed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32004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245410  (BSSE 1621)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3611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 M Mainul Hossain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40233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IIT, University of Dhaka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146304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727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energy consumption is rising, yet developers have no pre-execution insight into which code paths are expensive.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146304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585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profilers rely on runtime data — you must compile, run, and measure. This gives feedback too late.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44952"/>
            <a:ext cx="146304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443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patterns (deep loops, I/O in loops, excessive allocation) are invisible at development time.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730752"/>
            <a:ext cx="146304" cy="14630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301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standard tool that estimates energy cost from C source without executing the program.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26280" y="1188720"/>
            <a:ext cx="18288" cy="3520440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887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5727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15727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8196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parse the C source directly — no binary needed.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3225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322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traversal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56946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every operation type using a full Abstract Syntax Tree.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0723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0723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3192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each operation by its hardware cost (I/O &gt; alloc &gt; call &gt; arithmetic).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09160" y="38221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822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report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functions by energy, explain loop and recursion costs, suggest fixes.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487168" cy="1572768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84708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Energy Estimation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21284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 source analyzer that computes energy cost per function without running the program.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487168" cy="1572768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10712" y="184708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Per-Operation Profiling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10712" y="221284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count arithmetic, logic, comparison, I/O, bit, memory, and allocation operations.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487168" cy="1572768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99632" y="184708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&amp; Recursion Modeling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99632" y="221284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iteration counts from loop bounds; model recursion depth to approximate call-stack cost.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90672"/>
            <a:ext cx="2487168" cy="1572768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" y="374904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 Construction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411480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inter-function calls, propagate energy bottom-up, and identify the highest-cost hotspot.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29247" y="3090672"/>
            <a:ext cx="2487168" cy="1572768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410712" y="374904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1A2740"/>
                </a:solidFill>
                <a:latin typeface="Calibri"/>
                <a:ea typeface="Calibri"/>
                <a:cs typeface="Calibri"/>
              </a:rPr>
              <a:t>Provide Suggestions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10712" y="4042064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Emit ranked, actionable suggestions (Critical </a:t>
            </a:r>
            <a:r>
              <a:rPr lang="en-US"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/ High / Medium / Low) </a:t>
            </a:r>
            <a:endParaRPr lang="en-US" sz="950" dirty="0">
              <a:solidFill>
                <a:srgbClr val="5C6B7A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680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Six-stage pipeline from source file to energy report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0448" y="1417320"/>
            <a:ext cx="1115568" cy="713232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17320"/>
            <a:ext cx="1115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A2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source.c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70251" y="1746729"/>
            <a:ext cx="201168" cy="36576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5387" y="1426689"/>
            <a:ext cx="1097280" cy="713232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481104"/>
            <a:ext cx="792793" cy="301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45920" y="1796234"/>
            <a:ext cx="830268" cy="24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07352" y="1746280"/>
            <a:ext cx="74051" cy="36576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6719" y="1440741"/>
            <a:ext cx="1097280" cy="713232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3928" y="1499840"/>
            <a:ext cx="1097280" cy="28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65723" y="1805603"/>
            <a:ext cx="942694" cy="24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78683" y="1736911"/>
            <a:ext cx="74051" cy="59997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051" y="1431373"/>
            <a:ext cx="1097280" cy="71323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0014" y="1746280"/>
            <a:ext cx="97473" cy="59997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00644" y="1426688"/>
            <a:ext cx="1144124" cy="713232"/>
          </a:xfrm>
          <a:prstGeom prst="rect">
            <a:avLst/>
          </a:prstGeom>
          <a:solidFill>
            <a:srgbClr val="4A7BBF"/>
          </a:solidFill>
          <a:ln w="12700">
            <a:solidFill>
              <a:srgbClr val="4A7B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00644" y="1481104"/>
            <a:ext cx="1144124" cy="301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Model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00644" y="1805603"/>
            <a:ext cx="1144124" cy="233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weights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44768" y="1755648"/>
            <a:ext cx="36576" cy="36576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1344" y="1427711"/>
            <a:ext cx="1097280" cy="713232"/>
          </a:xfrm>
          <a:prstGeom prst="rect">
            <a:avLst/>
          </a:prstGeom>
          <a:solidFill>
            <a:srgbClr val="3D6E9E"/>
          </a:solidFill>
          <a:ln w="12700">
            <a:solidFill>
              <a:srgbClr val="3D6E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1490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81344" y="18196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calls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78624" y="1755648"/>
            <a:ext cx="36576" cy="36576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417320"/>
            <a:ext cx="1097280" cy="713232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490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ea typeface="Calibri"/>
                <a:cs typeface="Calibri"/>
              </a:rPr>
              <a:t>Suggestion</a:t>
            </a:r>
            <a:endParaRPr lang="en-US" sz="105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15200" y="181965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fixes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412480" y="1737360"/>
            <a:ext cx="164592" cy="36576"/>
          </a:xfrm>
          <a:prstGeom prst="rect">
            <a:avLst/>
          </a:prstGeom>
          <a:solidFill>
            <a:srgbClr val="5C6B7A"/>
          </a:solidFill>
          <a:ln w="12700">
            <a:solidFill>
              <a:srgbClr val="5C6B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34913" y="1426688"/>
            <a:ext cx="610174" cy="713232"/>
          </a:xfrm>
          <a:prstGeom prst="rect">
            <a:avLst/>
          </a:prstGeom>
          <a:solidFill>
            <a:srgbClr val="1A2740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7072" y="1417320"/>
            <a:ext cx="5680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" y="2706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Lexer.h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token stream — identifies keywords, operators, identifiers, and literals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46704" y="2706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46704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 parser builds Function → BlockStmt → Stmt → Expr tree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99632" y="27066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Analyzer.h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29809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EnergyVisitor counts operations per type; estimates loop bounds from AST nodes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3776" y="33649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EnergyModel.h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3776" y="3639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cost coefficients to produce a numeric energy score per function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346704" y="33649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CallGraph.h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46704" y="3639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 energy up through callers; detects recursion; finds hotspot function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99632" y="33649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2563A8"/>
                </a:solidFill>
                <a:latin typeface="Consolas"/>
                <a:ea typeface="Consolas" pitchFamily="34" charset="-122"/>
                <a:cs typeface="Consolas" pitchFamily="34" charset="-120"/>
              </a:rPr>
              <a:t>Suggestion.h</a:t>
            </a:r>
            <a:endParaRPr lang="en-US" sz="950" dirty="0" err="1">
              <a:latin typeface="Consola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199632" y="36393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Checks thresholds and emits prioritized fix suggestions </a:t>
            </a:r>
            <a:endParaRPr lang="en-US" sz="950">
              <a:solidFill>
                <a:srgbClr val="5C6B7A"/>
              </a:solidFill>
              <a:ea typeface="Calibri"/>
              <a:cs typeface="Calibri"/>
            </a:endParaRPr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4C9611B5-D75F-056A-BE38-B34095D54144}"/>
              </a:ext>
            </a:extLst>
          </p:cNvPr>
          <p:cNvSpPr/>
          <p:nvPr/>
        </p:nvSpPr>
        <p:spPr>
          <a:xfrm>
            <a:off x="3913632" y="1481104"/>
            <a:ext cx="994223" cy="301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05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F018240C-602F-9050-7F55-AF9FB96F50C4}"/>
              </a:ext>
            </a:extLst>
          </p:cNvPr>
          <p:cNvSpPr/>
          <p:nvPr/>
        </p:nvSpPr>
        <p:spPr>
          <a:xfrm>
            <a:off x="3913632" y="1805603"/>
            <a:ext cx="994223" cy="242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i="1" dirty="0">
                <a:solidFill>
                  <a:srgbClr val="C8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ops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680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coefficients defined in EnergyModel.h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935012321"/>
              </p:ext>
            </p:extLst>
          </p:nvPr>
        </p:nvGraphicFramePr>
        <p:xfrm>
          <a:off x="-1874" y="1315649"/>
          <a:ext cx="4623904" cy="3420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773168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Displayed ×100.  Alloc = 2.0,  I/O = 1.0,  Func.Call = 0.8,  Memory = 0.6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617752" y="1170432"/>
            <a:ext cx="3064364" cy="311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1481328"/>
            <a:ext cx="301752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17751" y="1582587"/>
            <a:ext cx="30175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loops: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= Σ ops × cost × iterCount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compCost + ioCost + ...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recursion: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= Σ ops × cost × 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other fixed costs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code: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 = Σ (opType × costPerType)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0" y="31272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0" y="3438144"/>
            <a:ext cx="301752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3621024"/>
            <a:ext cx="91440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35295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(2.0) costs most — OS/heap involvement.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4005072"/>
            <a:ext cx="91440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3913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(1.0) second — disk/network latency modeled.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4389120"/>
            <a:ext cx="91440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4297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iterations estimated from literal bounds in AST.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4773168"/>
            <a:ext cx="91440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4681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modeled as ×10 to account for stack frames.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680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Header-only C++ — no build system required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1901952" cy="160020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70432"/>
            <a:ext cx="1901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5216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1920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Lexer.h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" y="212140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source character-by-character. Handles keywords, multi-char operators, string/char literals, and single-line/block comments.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33472" y="1170432"/>
            <a:ext cx="1901952" cy="160020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33472" y="1170432"/>
            <a:ext cx="1901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61488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61488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Node Types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61488" y="1920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Ast.h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61488" y="212140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all expression and statement structs: BinExpr, CallExpr, IfStmt, WhileStmt, ForStmt, DoWhileStmt, DeclStmt, and more.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9744" y="1170432"/>
            <a:ext cx="1901952" cy="160020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744" y="1170432"/>
            <a:ext cx="1901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Base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1920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AstVisitor.h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37760" y="212140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visitor over all AST node types. Provides default traversal; subclasses override only the nodes they care about.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986016" y="1170432"/>
            <a:ext cx="1901952" cy="160020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86016" y="1170432"/>
            <a:ext cx="1901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1280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4032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EnergyVisitor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14032" y="1920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Analyzer.h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14032" y="212140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ops per type; records per-loop metrics (arith, comp, logic, I/O, mem, alloc, calls) and estimates loop bounds from literals.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554480" y="2999232"/>
            <a:ext cx="1901952" cy="160020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2999232"/>
            <a:ext cx="1901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82496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82496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Model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82496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EnergyModel.h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82496" y="395020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 single energy score from Metrics. Three paths: loop-heavy code, recursive code, and flat code — each weighted differently.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730752" y="2999232"/>
            <a:ext cx="1901952" cy="160020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30752" y="2999232"/>
            <a:ext cx="1901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58768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858768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CallGraph.h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58768" y="395020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call graph, propagates energy bottom-up, detects recursive functions, identifies the highest-cost hotspot, prints breakdowns.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07024" y="2999232"/>
            <a:ext cx="1901952" cy="160020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07024" y="2999232"/>
            <a:ext cx="1901952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35040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Opt. Advisor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03504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 err="1">
                <a:solidFill>
                  <a:srgbClr val="2563A8"/>
                </a:solidFill>
                <a:latin typeface="Consolas"/>
                <a:ea typeface="Consolas" pitchFamily="34" charset="-122"/>
                <a:cs typeface="Consolas" pitchFamily="34" charset="-120"/>
              </a:rPr>
              <a:t>Suggestion.h</a:t>
            </a:r>
            <a:endParaRPr lang="en-US" sz="800" dirty="0" err="1">
              <a:latin typeface="Consola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035040" y="3950208"/>
            <a:ext cx="1645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six categories: nested loops, single-loop cost, I/O in loops, recursion, memory access, allocation, and high call frequency.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680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file to energy report in 6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25296"/>
            <a:ext cx="420624" cy="420624"/>
          </a:xfrm>
          <a:prstGeom prst="rect">
            <a:avLst/>
          </a:prstGeom>
          <a:solidFill>
            <a:srgbClr val="1A2740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25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645920"/>
            <a:ext cx="18288" cy="2011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243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499616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reads the source file and emits a flat token stream. Types: KEYWORD, IDENTIFIER, NUMBER, OPERATOR, PUNCTUATION, STRING, CHAR.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420624" cy="420624"/>
          </a:xfrm>
          <a:prstGeom prst="rect">
            <a:avLst/>
          </a:prstGeom>
          <a:solidFill>
            <a:srgbClr val="1A2740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2276856"/>
            <a:ext cx="18288" cy="2011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130552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Recursive-descent parser consumes tokens and builds a tree: Function → BlockStmt → Stmt (if/for/while/decl/return...) → Expr.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420624" cy="420624"/>
          </a:xfrm>
          <a:prstGeom prst="rect">
            <a:avLst/>
          </a:prstGeom>
          <a:solidFill>
            <a:srgbClr val="1A2740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2907792"/>
            <a:ext cx="18288" cy="2011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Energy Weights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2761488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EnergyModel defines per-type costs. Allocation = 2.0, I/O = 1.0, FuncCall = 0.8, Memory = 0.6, Bit = 0.4, Comp = 0.5, Arith = 0.3, Logic = 0.2.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420624" cy="420624"/>
          </a:xfrm>
          <a:prstGeom prst="rect">
            <a:avLst/>
          </a:prstGeom>
          <a:solidFill>
            <a:srgbClr val="1A2740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8368" y="3538728"/>
            <a:ext cx="18288" cy="2011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3136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AST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3392424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EnergyVisitor walks the tree via Visitor pattern. Records Metrics: operation counts, loop details (per-iter ops + estimated iterations), recursion flag.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420624" cy="420624"/>
          </a:xfrm>
          <a:prstGeom prst="rect">
            <a:avLst/>
          </a:prstGeom>
          <a:solidFill>
            <a:srgbClr val="1A2740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" y="4169664"/>
            <a:ext cx="18288" cy="201168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767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 Energy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4023360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EnergyModel::compute() picks the right formula. CallGraph propagates scores: a caller's total = its own direct energy + all callee totals.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379976"/>
            <a:ext cx="420624" cy="420624"/>
          </a:xfrm>
          <a:prstGeom prst="rect">
            <a:avLst/>
          </a:prstGeom>
          <a:solidFill>
            <a:srgbClr val="1A2740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4128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4128" y="4654296"/>
            <a:ext cx="7662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identifies the hotspot (highest-energy non-main function), prints the energy table, per-loop breakdown, and Advisor suggestions for that function.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Design Decisions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&amp; Tools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82496"/>
            <a:ext cx="36576" cy="1828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740"/>
                </a:solidFill>
                <a:latin typeface="Calibri"/>
                <a:ea typeface="Calibri"/>
                <a:cs typeface="Calibri"/>
              </a:rPr>
              <a:t>C / C++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" y="1828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implementation language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9424"/>
            <a:ext cx="36576" cy="1828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1396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23957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Version control 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39887"/>
            <a:ext cx="36576" cy="18288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170432"/>
            <a:ext cx="18288" cy="3749040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170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Patterns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402336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5727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Pattern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184708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tree traversal from node types. Adding a new analysis pass (e.g., a security check) requires only a new subclass — AST nodes are untouched.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23774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Header-only Modules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265176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a single .h file. No Makefile, no CMake. Compile with: g++ -o analyzer main.cpp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182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Descent Parser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34564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top-down parser. Full control over error handling, precedence, and AST shape without external libraries.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(Energy Model)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2611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EnergyModel struct holds all cost values as public fields. Swap one out and every computation updates. Easy to tune for different targets.</a:t>
            </a:r>
            <a:endParaRPr lang="en-US" sz="10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9EEF1FAD-A608-89D6-DF3F-AA0EEA50789B}"/>
              </a:ext>
            </a:extLst>
          </p:cNvPr>
          <p:cNvSpPr/>
          <p:nvPr/>
        </p:nvSpPr>
        <p:spPr>
          <a:xfrm>
            <a:off x="622242" y="2692683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g++ / clang++</a:t>
            </a:r>
            <a:endParaRPr lang="en-US" sz="1200" dirty="0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574403EE-4D56-C1EC-1A30-30FC76273EAF}"/>
              </a:ext>
            </a:extLst>
          </p:cNvPr>
          <p:cNvSpPr/>
          <p:nvPr/>
        </p:nvSpPr>
        <p:spPr>
          <a:xfrm>
            <a:off x="622242" y="2948715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Compilation and testing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6576" cy="3291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74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3716"/>
          </a:xfrm>
          <a:prstGeom prst="rect">
            <a:avLst/>
          </a:prstGeom>
          <a:solidFill>
            <a:srgbClr val="D0DAE5"/>
          </a:solidFill>
          <a:ln w="12700">
            <a:solidFill>
              <a:srgbClr val="D0D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2578608" cy="169164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01</a:t>
            </a:r>
            <a:endParaRPr lang="en-US" sz="2400" dirty="0">
              <a:solidFill>
                <a:schemeClr val="accent1">
                  <a:lumMod val="76000"/>
                </a:schemeClr>
              </a:solidFill>
              <a:latin typeface="Cambria"/>
              <a:ea typeface="Cambr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82880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Summary Table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1945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Per-function table listing direct energy, total energy (including callees), and call count — ranked from highest to lowest.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170432"/>
            <a:ext cx="2578608" cy="169164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02</a:t>
            </a:r>
            <a:endParaRPr lang="en-US" sz="2400" dirty="0">
              <a:solidFill>
                <a:schemeClr val="accent1">
                  <a:lumMod val="76000"/>
                </a:schemeClr>
              </a:solidFill>
              <a:latin typeface="Cambria"/>
              <a:ea typeface="Cambri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identifies the most expensive non-main function and highlights it in the output table with a detailed breakdown.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63056" y="1212592"/>
            <a:ext cx="2578608" cy="169164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03</a:t>
            </a:r>
            <a:endParaRPr lang="en-US" sz="2400" dirty="0">
              <a:solidFill>
                <a:schemeClr val="accent1">
                  <a:lumMod val="76000"/>
                </a:schemeClr>
              </a:solidFill>
              <a:latin typeface="Cambria"/>
              <a:ea typeface="Cambri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27648" y="1828800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Per-Loop Breakdown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27648" y="2194560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loop: type (for/while), estimated iterations, cost per iteration, and total loop energy. Nested depth is tracked.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2578608" cy="169164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04</a:t>
            </a:r>
            <a:endParaRPr lang="en-US" sz="2400" dirty="0">
              <a:solidFill>
                <a:schemeClr val="accent1">
                  <a:lumMod val="76000"/>
                </a:schemeClr>
              </a:solidFill>
              <a:latin typeface="Cambria"/>
              <a:ea typeface="Cambri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792" y="37307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Graph 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409651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view of all function calls annotated with energy scores. Recursive functions are flagged with estimated call depth.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0128" y="3072384"/>
            <a:ext cx="2578608" cy="169164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05</a:t>
            </a:r>
            <a:endParaRPr lang="en-US" sz="2400" dirty="0">
              <a:solidFill>
                <a:schemeClr val="accent1">
                  <a:lumMod val="76000"/>
                </a:schemeClr>
              </a:solidFill>
              <a:latin typeface="Cambria"/>
              <a:ea typeface="Cambri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4720" y="37307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/>
                <a:ea typeface="Calibri"/>
                <a:cs typeface="Calibri"/>
              </a:rPr>
              <a:t> Suggestions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74720" y="409651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fixes for the hotspot: loop reduction, I/O batching, recursion-to-iteration, allocation hoisting — with code examples.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3072384"/>
            <a:ext cx="2578608" cy="1691640"/>
          </a:xfrm>
          <a:prstGeom prst="rect">
            <a:avLst/>
          </a:prstGeom>
          <a:solidFill>
            <a:srgbClr val="F0F4F8"/>
          </a:solidFill>
          <a:ln w="9525">
            <a:solidFill>
              <a:srgbClr val="C8D4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3200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6000"/>
                  </a:schemeClr>
                </a:solidFill>
                <a:latin typeface="Cambria"/>
                <a:ea typeface="Cambria"/>
                <a:cs typeface="Cambria" pitchFamily="34" charset="-120"/>
              </a:rPr>
              <a:t>06</a:t>
            </a:r>
            <a:endParaRPr lang="en-US" sz="2400" dirty="0">
              <a:solidFill>
                <a:schemeClr val="accent1">
                  <a:lumMod val="76000"/>
                </a:schemeClr>
              </a:solidFill>
              <a:latin typeface="Cambria"/>
              <a:ea typeface="Cambri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27648" y="3730752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Execution Required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4096512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analysis is static. No compiled binary is needed. Works on incomplete or partially written code.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i="1">
                <a:solidFill>
                  <a:srgbClr val="A8C4D8"/>
                </a:solidFill>
                <a:latin typeface="Calibri"/>
                <a:ea typeface="Calibri"/>
                <a:cs typeface="Calibri"/>
              </a:rPr>
              <a:t>Open for discussion.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645920" cy="228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175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03120" y="30175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 Ahmed  ·  245410  (BSSE 1621)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34198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03120" y="341985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2105: Software Project Lab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382219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 M Mainul Hossain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422452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IIT, University of Dhaka 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Code Energy Analyzer</dc:title>
  <dc:subject>PptxGenJS Presentation</dc:subject>
  <dc:creator>Nafis Ahmed</dc:creator>
  <cp:lastModifiedBy>Nafis Ahmed</cp:lastModifiedBy>
  <cp:revision>106</cp:revision>
  <dcterms:created xsi:type="dcterms:W3CDTF">2026-04-22T15:25:02Z</dcterms:created>
  <dcterms:modified xsi:type="dcterms:W3CDTF">2026-04-22T18:53:03Z</dcterms:modified>
</cp:coreProperties>
</file>